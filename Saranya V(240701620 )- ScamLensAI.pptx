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47E26-4472-410B-956D-B00934BBD54E}" v="3" dt="2026-10-19T14:43:08.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113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yathri Jayam" userId="80cbfa409ebacc20" providerId="LiveId" clId="{67CAF586-04BD-4525-9ED3-6005F904DC1A}"/>
    <pc:docChg chg="undo custSel modSld">
      <pc:chgData name="Gayathri Jayam" userId="80cbfa409ebacc20" providerId="LiveId" clId="{67CAF586-04BD-4525-9ED3-6005F904DC1A}" dt="2026-10-19T14:43:11.813" v="71" actId="1038"/>
      <pc:docMkLst>
        <pc:docMk/>
      </pc:docMkLst>
      <pc:sldChg chg="modSp mod">
        <pc:chgData name="Gayathri Jayam" userId="80cbfa409ebacc20" providerId="LiveId" clId="{67CAF586-04BD-4525-9ED3-6005F904DC1A}" dt="2026-10-19T14:43:11.813" v="71" actId="1038"/>
        <pc:sldMkLst>
          <pc:docMk/>
          <pc:sldMk cId="0" sldId="256"/>
        </pc:sldMkLst>
        <pc:spChg chg="mod">
          <ac:chgData name="Gayathri Jayam" userId="80cbfa409ebacc20" providerId="LiveId" clId="{67CAF586-04BD-4525-9ED3-6005F904DC1A}" dt="2026-10-19T14:43:11.813" v="71" actId="1038"/>
          <ac:spMkLst>
            <pc:docMk/>
            <pc:sldMk cId="0" sldId="256"/>
            <ac:spMk id="15" creationId="{00000000-0000-0000-0000-000000000000}"/>
          </ac:spMkLst>
        </pc:spChg>
        <pc:spChg chg="mod">
          <ac:chgData name="Gayathri Jayam" userId="80cbfa409ebacc20" providerId="LiveId" clId="{67CAF586-04BD-4525-9ED3-6005F904DC1A}" dt="2026-10-19T14:33:57.824" v="6" actId="255"/>
          <ac:spMkLst>
            <pc:docMk/>
            <pc:sldMk cId="0" sldId="256"/>
            <ac:spMk id="16" creationId="{00000000-0000-0000-0000-000000000000}"/>
          </ac:spMkLst>
        </pc:spChg>
        <pc:spChg chg="mod">
          <ac:chgData name="Gayathri Jayam" userId="80cbfa409ebacc20" providerId="LiveId" clId="{67CAF586-04BD-4525-9ED3-6005F904DC1A}" dt="2026-10-19T14:34:22.024" v="9" actId="255"/>
          <ac:spMkLst>
            <pc:docMk/>
            <pc:sldMk cId="0" sldId="256"/>
            <ac:spMk id="17" creationId="{00000000-0000-0000-0000-000000000000}"/>
          </ac:spMkLst>
        </pc:spChg>
        <pc:spChg chg="mod">
          <ac:chgData name="Gayathri Jayam" userId="80cbfa409ebacc20" providerId="LiveId" clId="{67CAF586-04BD-4525-9ED3-6005F904DC1A}" dt="2026-10-19T14:34:56.211" v="12" actId="255"/>
          <ac:spMkLst>
            <pc:docMk/>
            <pc:sldMk cId="0" sldId="256"/>
            <ac:spMk id="18" creationId="{00000000-0000-0000-0000-000000000000}"/>
          </ac:spMkLst>
        </pc:spChg>
        <pc:spChg chg="mod">
          <ac:chgData name="Gayathri Jayam" userId="80cbfa409ebacc20" providerId="LiveId" clId="{67CAF586-04BD-4525-9ED3-6005F904DC1A}" dt="2026-10-19T14:35:02.567" v="13" actId="255"/>
          <ac:spMkLst>
            <pc:docMk/>
            <pc:sldMk cId="0" sldId="256"/>
            <ac:spMk id="19" creationId="{00000000-0000-0000-0000-000000000000}"/>
          </ac:spMkLst>
        </pc:spChg>
      </pc:sldChg>
      <pc:sldChg chg="modSp mod">
        <pc:chgData name="Gayathri Jayam" userId="80cbfa409ebacc20" providerId="LiveId" clId="{67CAF586-04BD-4525-9ED3-6005F904DC1A}" dt="2026-10-19T14:42:42.863" v="68" actId="2711"/>
        <pc:sldMkLst>
          <pc:docMk/>
          <pc:sldMk cId="0" sldId="257"/>
        </pc:sldMkLst>
        <pc:spChg chg="mod">
          <ac:chgData name="Gayathri Jayam" userId="80cbfa409ebacc20" providerId="LiveId" clId="{67CAF586-04BD-4525-9ED3-6005F904DC1A}" dt="2026-10-19T14:42:42.863" v="68" actId="2711"/>
          <ac:spMkLst>
            <pc:docMk/>
            <pc:sldMk cId="0" sldId="257"/>
            <ac:spMk id="17" creationId="{00000000-0000-0000-0000-000000000000}"/>
          </ac:spMkLst>
        </pc:spChg>
      </pc:sldChg>
      <pc:sldChg chg="addSp delSp modSp mod">
        <pc:chgData name="Gayathri Jayam" userId="80cbfa409ebacc20" providerId="LiveId" clId="{67CAF586-04BD-4525-9ED3-6005F904DC1A}" dt="2026-10-19T14:41:43.395" v="64" actId="255"/>
        <pc:sldMkLst>
          <pc:docMk/>
          <pc:sldMk cId="0" sldId="258"/>
        </pc:sldMkLst>
        <pc:spChg chg="mod">
          <ac:chgData name="Gayathri Jayam" userId="80cbfa409ebacc20" providerId="LiveId" clId="{67CAF586-04BD-4525-9ED3-6005F904DC1A}" dt="2026-10-19T14:37:20.330" v="29" actId="14100"/>
          <ac:spMkLst>
            <pc:docMk/>
            <pc:sldMk cId="0" sldId="258"/>
            <ac:spMk id="15" creationId="{00000000-0000-0000-0000-000000000000}"/>
          </ac:spMkLst>
        </pc:spChg>
        <pc:spChg chg="mod">
          <ac:chgData name="Gayathri Jayam" userId="80cbfa409ebacc20" providerId="LiveId" clId="{67CAF586-04BD-4525-9ED3-6005F904DC1A}" dt="2026-10-19T14:36:59.654" v="26" actId="255"/>
          <ac:spMkLst>
            <pc:docMk/>
            <pc:sldMk cId="0" sldId="258"/>
            <ac:spMk id="17" creationId="{00000000-0000-0000-0000-000000000000}"/>
          </ac:spMkLst>
        </pc:spChg>
        <pc:spChg chg="mod">
          <ac:chgData name="Gayathri Jayam" userId="80cbfa409ebacc20" providerId="LiveId" clId="{67CAF586-04BD-4525-9ED3-6005F904DC1A}" dt="2026-10-19T14:37:30.040" v="38" actId="1036"/>
          <ac:spMkLst>
            <pc:docMk/>
            <pc:sldMk cId="0" sldId="258"/>
            <ac:spMk id="18" creationId="{00000000-0000-0000-0000-000000000000}"/>
          </ac:spMkLst>
        </pc:spChg>
        <pc:spChg chg="mod">
          <ac:chgData name="Gayathri Jayam" userId="80cbfa409ebacc20" providerId="LiveId" clId="{67CAF586-04BD-4525-9ED3-6005F904DC1A}" dt="2026-10-19T14:41:21.254" v="60" actId="255"/>
          <ac:spMkLst>
            <pc:docMk/>
            <pc:sldMk cId="0" sldId="258"/>
            <ac:spMk id="19" creationId="{00000000-0000-0000-0000-000000000000}"/>
          </ac:spMkLst>
        </pc:spChg>
        <pc:spChg chg="mod">
          <ac:chgData name="Gayathri Jayam" userId="80cbfa409ebacc20" providerId="LiveId" clId="{67CAF586-04BD-4525-9ED3-6005F904DC1A}" dt="2026-10-19T14:41:27.389" v="61" actId="255"/>
          <ac:spMkLst>
            <pc:docMk/>
            <pc:sldMk cId="0" sldId="258"/>
            <ac:spMk id="21" creationId="{00000000-0000-0000-0000-000000000000}"/>
          </ac:spMkLst>
        </pc:spChg>
        <pc:spChg chg="mod">
          <ac:chgData name="Gayathri Jayam" userId="80cbfa409ebacc20" providerId="LiveId" clId="{67CAF586-04BD-4525-9ED3-6005F904DC1A}" dt="2026-10-19T14:41:43.395" v="64" actId="255"/>
          <ac:spMkLst>
            <pc:docMk/>
            <pc:sldMk cId="0" sldId="258"/>
            <ac:spMk id="23" creationId="{00000000-0000-0000-0000-000000000000}"/>
          </ac:spMkLst>
        </pc:spChg>
        <pc:spChg chg="mod">
          <ac:chgData name="Gayathri Jayam" userId="80cbfa409ebacc20" providerId="LiveId" clId="{67CAF586-04BD-4525-9ED3-6005F904DC1A}" dt="2026-10-19T14:37:06.278" v="27" actId="255"/>
          <ac:spMkLst>
            <pc:docMk/>
            <pc:sldMk cId="0" sldId="258"/>
            <ac:spMk id="24" creationId="{00000000-0000-0000-0000-000000000000}"/>
          </ac:spMkLst>
        </pc:spChg>
        <pc:spChg chg="mod">
          <ac:chgData name="Gayathri Jayam" userId="80cbfa409ebacc20" providerId="LiveId" clId="{67CAF586-04BD-4525-9ED3-6005F904DC1A}" dt="2026-10-19T14:41:11.822" v="59" actId="1037"/>
          <ac:spMkLst>
            <pc:docMk/>
            <pc:sldMk cId="0" sldId="258"/>
            <ac:spMk id="25" creationId="{00000000-0000-0000-0000-000000000000}"/>
          </ac:spMkLst>
        </pc:spChg>
        <pc:spChg chg="mod">
          <ac:chgData name="Gayathri Jayam" userId="80cbfa409ebacc20" providerId="LiveId" clId="{67CAF586-04BD-4525-9ED3-6005F904DC1A}" dt="2026-10-19T14:40:53.156" v="49" actId="1036"/>
          <ac:spMkLst>
            <pc:docMk/>
            <pc:sldMk cId="0" sldId="258"/>
            <ac:spMk id="26" creationId="{00000000-0000-0000-0000-000000000000}"/>
          </ac:spMkLst>
        </pc:spChg>
        <pc:spChg chg="add del mod">
          <ac:chgData name="Gayathri Jayam" userId="80cbfa409ebacc20" providerId="LiveId" clId="{67CAF586-04BD-4525-9ED3-6005F904DC1A}" dt="2026-10-19T14:40:34.434" v="44" actId="255"/>
          <ac:spMkLst>
            <pc:docMk/>
            <pc:sldMk cId="0" sldId="258"/>
            <ac:spMk id="28" creationId="{00000000-0000-0000-0000-000000000000}"/>
          </ac:spMkLst>
        </pc:spChg>
        <pc:spChg chg="mod">
          <ac:chgData name="Gayathri Jayam" userId="80cbfa409ebacc20" providerId="LiveId" clId="{67CAF586-04BD-4525-9ED3-6005F904DC1A}" dt="2026-10-19T14:40:42.247" v="45" actId="255"/>
          <ac:spMkLst>
            <pc:docMk/>
            <pc:sldMk cId="0" sldId="258"/>
            <ac:spMk id="30" creationId="{00000000-0000-0000-0000-000000000000}"/>
          </ac:spMkLst>
        </pc:spChg>
      </pc:sldChg>
      <pc:sldChg chg="modSp mod">
        <pc:chgData name="Gayathri Jayam" userId="80cbfa409ebacc20" providerId="LiveId" clId="{67CAF586-04BD-4525-9ED3-6005F904DC1A}" dt="2026-10-19T14:40:06.942" v="39" actId="255"/>
        <pc:sldMkLst>
          <pc:docMk/>
          <pc:sldMk cId="0" sldId="259"/>
        </pc:sldMkLst>
        <pc:spChg chg="mod">
          <ac:chgData name="Gayathri Jayam" userId="80cbfa409ebacc20" providerId="LiveId" clId="{67CAF586-04BD-4525-9ED3-6005F904DC1A}" dt="2026-10-19T14:40:06.942" v="39" actId="255"/>
          <ac:spMkLst>
            <pc:docMk/>
            <pc:sldMk cId="0" sldId="259"/>
            <ac:spMk id="17" creationId="{00000000-0000-0000-0000-000000000000}"/>
          </ac:spMkLst>
        </pc:spChg>
      </pc:sldChg>
      <pc:sldChg chg="modSp mod">
        <pc:chgData name="Gayathri Jayam" userId="80cbfa409ebacc20" providerId="LiveId" clId="{67CAF586-04BD-4525-9ED3-6005F904DC1A}" dt="2026-10-19T14:42:20.422" v="66" actId="255"/>
        <pc:sldMkLst>
          <pc:docMk/>
          <pc:sldMk cId="0" sldId="261"/>
        </pc:sldMkLst>
        <pc:spChg chg="mod">
          <ac:chgData name="Gayathri Jayam" userId="80cbfa409ebacc20" providerId="LiveId" clId="{67CAF586-04BD-4525-9ED3-6005F904DC1A}" dt="2026-10-19T14:42:20.422" v="66" actId="255"/>
          <ac:spMkLst>
            <pc:docMk/>
            <pc:sldMk cId="0" sldId="261"/>
            <ac:spMk id="2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5C58A-3098-400D-8454-0EED0BC7F908}" type="datetimeFigureOut">
              <a:rPr lang="en-IN" smtClean="0"/>
              <a:t>19-10-2026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064491-7A03-4980-914B-CF877AD10E7A}" type="slidenum">
              <a:rPr lang="en-IN" smtClean="0"/>
              <a:t>‹#›</a:t>
            </a:fld>
            <a:endParaRPr lang="en-IN"/>
          </a:p>
        </p:txBody>
      </p:sp>
    </p:spTree>
    <p:extLst>
      <p:ext uri="{BB962C8B-B14F-4D97-AF65-F5344CB8AC3E}">
        <p14:creationId xmlns:p14="http://schemas.microsoft.com/office/powerpoint/2010/main" val="2490021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E064491-7A03-4980-914B-CF877AD10E7A}" type="slidenum">
              <a:rPr lang="en-IN" smtClean="0"/>
              <a:t>3</a:t>
            </a:fld>
            <a:endParaRPr lang="en-IN"/>
          </a:p>
        </p:txBody>
      </p:sp>
    </p:spTree>
    <p:extLst>
      <p:ext uri="{BB962C8B-B14F-4D97-AF65-F5344CB8AC3E}">
        <p14:creationId xmlns:p14="http://schemas.microsoft.com/office/powerpoint/2010/main" val="4109021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77240" y="960119"/>
            <a:ext cx="2011680" cy="221599"/>
          </a:xfrm>
          <a:prstGeom prst="rect">
            <a:avLst/>
          </a:prstGeom>
          <a:noFill/>
        </p:spPr>
        <p:txBody>
          <a:bodyPr wrap="square" lIns="18288" tIns="18288" rIns="18288" bIns="18288">
            <a:spAutoFit/>
          </a:bodyPr>
          <a:lstStyle/>
          <a:p>
            <a:pPr>
              <a:defRPr sz="900" b="0">
                <a:solidFill>
                  <a:srgbClr val="717177"/>
                </a:solidFill>
                <a:latin typeface="Aptos"/>
              </a:defRPr>
            </a:pPr>
            <a:r>
              <a:rPr sz="1200" dirty="0"/>
              <a:t>♧  Web Programmin</a:t>
            </a:r>
            <a:r>
              <a:rPr lang="en-US" sz="1200" dirty="0"/>
              <a:t>g</a:t>
            </a:r>
            <a:endParaRPr sz="1200" dirty="0"/>
          </a:p>
        </p:txBody>
      </p:sp>
      <p:sp>
        <p:nvSpPr>
          <p:cNvPr id="3" name="TextBox 2"/>
          <p:cNvSpPr txBox="1"/>
          <p:nvPr/>
        </p:nvSpPr>
        <p:spPr>
          <a:xfrm>
            <a:off x="9692640" y="320040"/>
            <a:ext cx="1828800" cy="228600"/>
          </a:xfrm>
          <a:prstGeom prst="rect">
            <a:avLst/>
          </a:prstGeom>
          <a:noFill/>
        </p:spPr>
        <p:txBody>
          <a:bodyPr wrap="square" lIns="18288" tIns="18288" rIns="18288" bIns="18288">
            <a:spAutoFit/>
          </a:bodyPr>
          <a:lstStyle/>
          <a:p>
            <a:pPr>
              <a:defRPr sz="900" b="0">
                <a:solidFill>
                  <a:srgbClr val="717177"/>
                </a:solidFill>
                <a:latin typeface="Aptos"/>
              </a:defRPr>
            </a:pPr>
            <a:endParaRP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1</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4582" y="1874519"/>
            <a:ext cx="5029200" cy="806375"/>
          </a:xfrm>
          <a:prstGeom prst="rect">
            <a:avLst/>
          </a:prstGeom>
          <a:noFill/>
        </p:spPr>
        <p:txBody>
          <a:bodyPr wrap="square" lIns="18288" tIns="18288" rIns="18288" bIns="18288">
            <a:spAutoFit/>
          </a:bodyPr>
          <a:lstStyle/>
          <a:p>
            <a:pPr>
              <a:defRPr sz="3600" b="0">
                <a:solidFill>
                  <a:srgbClr val="141418"/>
                </a:solidFill>
                <a:latin typeface="Georgia"/>
              </a:defRPr>
            </a:pPr>
            <a:r>
              <a:rPr sz="5000" dirty="0"/>
              <a:t>Queu</a:t>
            </a:r>
            <a:r>
              <a:rPr lang="en-US" sz="5000" dirty="0"/>
              <a:t>eL</a:t>
            </a:r>
            <a:r>
              <a:rPr sz="5000" dirty="0"/>
              <a:t>ess</a:t>
            </a:r>
          </a:p>
        </p:txBody>
      </p:sp>
      <p:sp>
        <p:nvSpPr>
          <p:cNvPr id="16" name="TextBox 15"/>
          <p:cNvSpPr txBox="1"/>
          <p:nvPr/>
        </p:nvSpPr>
        <p:spPr>
          <a:xfrm>
            <a:off x="777240" y="2693125"/>
            <a:ext cx="4846320" cy="390876"/>
          </a:xfrm>
          <a:prstGeom prst="rect">
            <a:avLst/>
          </a:prstGeom>
          <a:noFill/>
        </p:spPr>
        <p:txBody>
          <a:bodyPr wrap="square" lIns="18288" tIns="18288" rIns="18288" bIns="18288">
            <a:spAutoFit/>
          </a:bodyPr>
          <a:lstStyle/>
          <a:p>
            <a:pPr>
              <a:defRPr sz="1900" b="0">
                <a:solidFill>
                  <a:srgbClr val="141418"/>
                </a:solidFill>
                <a:latin typeface="Aptos"/>
              </a:defRPr>
            </a:pPr>
            <a:r>
              <a:rPr dirty="0"/>
              <a:t>Queue Management </a:t>
            </a:r>
            <a:r>
              <a:rPr sz="2300" dirty="0"/>
              <a:t>System</a:t>
            </a:r>
          </a:p>
        </p:txBody>
      </p:sp>
      <p:sp>
        <p:nvSpPr>
          <p:cNvPr id="17" name="TextBox 16"/>
          <p:cNvSpPr txBox="1"/>
          <p:nvPr/>
        </p:nvSpPr>
        <p:spPr>
          <a:xfrm>
            <a:off x="777240" y="3703320"/>
            <a:ext cx="5303520" cy="344710"/>
          </a:xfrm>
          <a:prstGeom prst="rect">
            <a:avLst/>
          </a:prstGeom>
          <a:noFill/>
        </p:spPr>
        <p:txBody>
          <a:bodyPr wrap="square" lIns="18288" tIns="18288" rIns="18288" bIns="18288">
            <a:spAutoFit/>
          </a:bodyPr>
          <a:lstStyle/>
          <a:p>
            <a:pPr>
              <a:defRPr sz="1500" b="0">
                <a:solidFill>
                  <a:srgbClr val="141418"/>
                </a:solidFill>
                <a:latin typeface="Aptos"/>
              </a:defRPr>
            </a:pPr>
            <a:r>
              <a:rPr sz="2000"/>
              <a:t>Domain:  Web Development</a:t>
            </a:r>
          </a:p>
        </p:txBody>
      </p:sp>
      <p:sp>
        <p:nvSpPr>
          <p:cNvPr id="18" name="TextBox 17"/>
          <p:cNvSpPr txBox="1"/>
          <p:nvPr/>
        </p:nvSpPr>
        <p:spPr>
          <a:xfrm>
            <a:off x="777240" y="4160520"/>
            <a:ext cx="5669280" cy="344710"/>
          </a:xfrm>
          <a:prstGeom prst="rect">
            <a:avLst/>
          </a:prstGeom>
          <a:noFill/>
        </p:spPr>
        <p:txBody>
          <a:bodyPr wrap="square" lIns="18288" tIns="18288" rIns="18288" bIns="18288">
            <a:spAutoFit/>
          </a:bodyPr>
          <a:lstStyle/>
          <a:p>
            <a:pPr>
              <a:defRPr sz="1500" b="0">
                <a:solidFill>
                  <a:srgbClr val="141418"/>
                </a:solidFill>
                <a:latin typeface="Aptos"/>
              </a:defRPr>
            </a:pPr>
            <a:r>
              <a:rPr lang="en-US" sz="2000" dirty="0"/>
              <a:t>Name </a:t>
            </a:r>
            <a:r>
              <a:rPr sz="2000" dirty="0"/>
              <a:t>:  Gayathri</a:t>
            </a:r>
            <a:r>
              <a:rPr dirty="0"/>
              <a:t> </a:t>
            </a:r>
            <a:r>
              <a:rPr sz="2000" dirty="0"/>
              <a:t>Jayam S</a:t>
            </a:r>
          </a:p>
        </p:txBody>
      </p:sp>
      <p:sp>
        <p:nvSpPr>
          <p:cNvPr id="19" name="TextBox 18"/>
          <p:cNvSpPr txBox="1"/>
          <p:nvPr/>
        </p:nvSpPr>
        <p:spPr>
          <a:xfrm>
            <a:off x="777240" y="4617720"/>
            <a:ext cx="5669280" cy="344710"/>
          </a:xfrm>
          <a:prstGeom prst="rect">
            <a:avLst/>
          </a:prstGeom>
          <a:noFill/>
        </p:spPr>
        <p:txBody>
          <a:bodyPr wrap="square" lIns="18288" tIns="18288" rIns="18288" bIns="18288">
            <a:spAutoFit/>
          </a:bodyPr>
          <a:lstStyle/>
          <a:p>
            <a:pPr>
              <a:defRPr sz="1500" b="0">
                <a:solidFill>
                  <a:srgbClr val="141418"/>
                </a:solidFill>
                <a:latin typeface="Aptos"/>
              </a:defRPr>
            </a:pPr>
            <a:r>
              <a:rPr sz="2000" dirty="0"/>
              <a:t>Roll No:  240701142</a:t>
            </a:r>
          </a:p>
        </p:txBody>
      </p:sp>
      <p:pic>
        <p:nvPicPr>
          <p:cNvPr id="28" name="Picture 27">
            <a:extLst>
              <a:ext uri="{FF2B5EF4-FFF2-40B4-BE49-F238E27FC236}">
                <a16:creationId xmlns:a16="http://schemas.microsoft.com/office/drawing/2014/main" id="{C7958680-FE06-6D27-30BF-DD403058BB33}"/>
              </a:ext>
            </a:extLst>
          </p:cNvPr>
          <p:cNvPicPr>
            <a:picLocks noChangeAspect="1"/>
          </p:cNvPicPr>
          <p:nvPr/>
        </p:nvPicPr>
        <p:blipFill>
          <a:blip r:embed="rId2"/>
          <a:stretch>
            <a:fillRect/>
          </a:stretch>
        </p:blipFill>
        <p:spPr>
          <a:xfrm>
            <a:off x="4947883" y="1302530"/>
            <a:ext cx="6286946" cy="44175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2</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234440"/>
            <a:ext cx="4023360" cy="594360"/>
          </a:xfrm>
          <a:prstGeom prst="rect">
            <a:avLst/>
          </a:prstGeom>
          <a:noFill/>
        </p:spPr>
        <p:txBody>
          <a:bodyPr wrap="square" lIns="18288" tIns="18288" rIns="18288" bIns="18288">
            <a:spAutoFit/>
          </a:bodyPr>
          <a:lstStyle/>
          <a:p>
            <a:pPr>
              <a:defRPr sz="2700" b="0">
                <a:solidFill>
                  <a:srgbClr val="141418"/>
                </a:solidFill>
                <a:latin typeface="Georgia"/>
              </a:defRPr>
            </a:pPr>
            <a:r>
              <a:t>ABSTRACT</a:t>
            </a:r>
          </a:p>
        </p:txBody>
      </p:sp>
      <p:sp>
        <p:nvSpPr>
          <p:cNvPr id="16" name="Rectangle 15"/>
          <p:cNvSpPr/>
          <p:nvPr/>
        </p:nvSpPr>
        <p:spPr>
          <a:xfrm>
            <a:off x="749808" y="1920240"/>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2240280"/>
            <a:ext cx="3749039" cy="3730252"/>
          </a:xfrm>
          <a:prstGeom prst="rect">
            <a:avLst/>
          </a:prstGeom>
          <a:noFill/>
        </p:spPr>
        <p:txBody>
          <a:bodyPr wrap="square" lIns="18288" tIns="18288" rIns="18288" bIns="18288">
            <a:spAutoFit/>
          </a:bodyPr>
          <a:lstStyle/>
          <a:p>
            <a:pPr>
              <a:defRPr sz="1300" b="0">
                <a:solidFill>
                  <a:srgbClr val="717177"/>
                </a:solidFill>
                <a:latin typeface="Aptos"/>
              </a:defRPr>
            </a:pPr>
            <a:r>
              <a:rPr sz="2000" dirty="0"/>
              <a:t>QueueLess is a web-based queue management system developed to simplify queues in offices, laboratories and service centers. Users can view available services, obtain queue tokens and check their token status. The system displays waiting tokens and the people currently </a:t>
            </a:r>
            <a:r>
              <a:rPr sz="2000" dirty="0">
                <a:latin typeface="Aptos Display" panose="020B0004020202020204" pitchFamily="34" charset="0"/>
              </a:rPr>
              <a:t>being</a:t>
            </a:r>
            <a:r>
              <a:rPr sz="2000" dirty="0"/>
              <a:t> served, helping users understand the queue without having to wait blindly.</a:t>
            </a:r>
          </a:p>
        </p:txBody>
      </p:sp>
      <p:sp>
        <p:nvSpPr>
          <p:cNvPr id="18" name="Rounded Rectangle 17"/>
          <p:cNvSpPr/>
          <p:nvPr/>
        </p:nvSpPr>
        <p:spPr>
          <a:xfrm>
            <a:off x="4983480" y="1005840"/>
            <a:ext cx="2788920" cy="118872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60" y="1143000"/>
            <a:ext cx="2423160" cy="320040"/>
          </a:xfrm>
          <a:prstGeom prst="rect">
            <a:avLst/>
          </a:prstGeom>
          <a:noFill/>
        </p:spPr>
        <p:txBody>
          <a:bodyPr wrap="square" lIns="18288" tIns="18288" rIns="18288" bIns="18288">
            <a:spAutoFit/>
          </a:bodyPr>
          <a:lstStyle/>
          <a:p>
            <a:pPr>
              <a:defRPr sz="1400" b="1">
                <a:solidFill>
                  <a:srgbClr val="141418"/>
                </a:solidFill>
                <a:latin typeface="Aptos"/>
              </a:defRPr>
            </a:pPr>
            <a:r>
              <a:t>View queue details</a:t>
            </a:r>
          </a:p>
        </p:txBody>
      </p:sp>
      <p:sp>
        <p:nvSpPr>
          <p:cNvPr id="20" name="TextBox 19"/>
          <p:cNvSpPr txBox="1"/>
          <p:nvPr/>
        </p:nvSpPr>
        <p:spPr>
          <a:xfrm>
            <a:off x="5166360" y="1527048"/>
            <a:ext cx="2423160" cy="594360"/>
          </a:xfrm>
          <a:prstGeom prst="rect">
            <a:avLst/>
          </a:prstGeom>
          <a:noFill/>
        </p:spPr>
        <p:txBody>
          <a:bodyPr wrap="square" lIns="18288" tIns="18288" rIns="18288" bIns="18288">
            <a:spAutoFit/>
          </a:bodyPr>
          <a:lstStyle/>
          <a:p>
            <a:pPr>
              <a:defRPr sz="1200" b="0">
                <a:solidFill>
                  <a:srgbClr val="717177"/>
                </a:solidFill>
                <a:latin typeface="Aptos"/>
              </a:defRPr>
            </a:pPr>
            <a:r>
              <a:t>Show token details and whether a token is waiting or being served.</a:t>
            </a:r>
          </a:p>
        </p:txBody>
      </p:sp>
      <p:sp>
        <p:nvSpPr>
          <p:cNvPr id="21" name="Rounded Rectangle 20"/>
          <p:cNvSpPr/>
          <p:nvPr/>
        </p:nvSpPr>
        <p:spPr>
          <a:xfrm>
            <a:off x="4983480" y="2514600"/>
            <a:ext cx="2788920" cy="118872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66360" y="2651760"/>
            <a:ext cx="2423160" cy="320040"/>
          </a:xfrm>
          <a:prstGeom prst="rect">
            <a:avLst/>
          </a:prstGeom>
          <a:noFill/>
        </p:spPr>
        <p:txBody>
          <a:bodyPr wrap="square" lIns="18288" tIns="18288" rIns="18288" bIns="18288">
            <a:spAutoFit/>
          </a:bodyPr>
          <a:lstStyle/>
          <a:p>
            <a:pPr>
              <a:defRPr sz="1400" b="1">
                <a:solidFill>
                  <a:srgbClr val="141418"/>
                </a:solidFill>
                <a:latin typeface="Aptos"/>
              </a:defRPr>
            </a:pPr>
            <a:r>
              <a:t>View services</a:t>
            </a:r>
          </a:p>
        </p:txBody>
      </p:sp>
      <p:sp>
        <p:nvSpPr>
          <p:cNvPr id="23" name="TextBox 22"/>
          <p:cNvSpPr txBox="1"/>
          <p:nvPr/>
        </p:nvSpPr>
        <p:spPr>
          <a:xfrm>
            <a:off x="5166360" y="3035808"/>
            <a:ext cx="2423160" cy="594360"/>
          </a:xfrm>
          <a:prstGeom prst="rect">
            <a:avLst/>
          </a:prstGeom>
          <a:noFill/>
        </p:spPr>
        <p:txBody>
          <a:bodyPr wrap="square" lIns="18288" tIns="18288" rIns="18288" bIns="18288">
            <a:spAutoFit/>
          </a:bodyPr>
          <a:lstStyle/>
          <a:p>
            <a:pPr>
              <a:defRPr sz="1200" b="0">
                <a:solidFill>
                  <a:srgbClr val="717177"/>
                </a:solidFill>
                <a:latin typeface="Aptos"/>
              </a:defRPr>
            </a:pPr>
            <a:r>
              <a:t>Display available services and the number of people waiting.</a:t>
            </a:r>
          </a:p>
        </p:txBody>
      </p:sp>
      <p:sp>
        <p:nvSpPr>
          <p:cNvPr id="24" name="Rounded Rectangle 23"/>
          <p:cNvSpPr/>
          <p:nvPr/>
        </p:nvSpPr>
        <p:spPr>
          <a:xfrm>
            <a:off x="4983480" y="4023360"/>
            <a:ext cx="2788920" cy="118872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166360" y="4160520"/>
            <a:ext cx="2423160" cy="320040"/>
          </a:xfrm>
          <a:prstGeom prst="rect">
            <a:avLst/>
          </a:prstGeom>
          <a:noFill/>
        </p:spPr>
        <p:txBody>
          <a:bodyPr wrap="square" lIns="18288" tIns="18288" rIns="18288" bIns="18288">
            <a:spAutoFit/>
          </a:bodyPr>
          <a:lstStyle/>
          <a:p>
            <a:pPr>
              <a:defRPr sz="1400" b="1">
                <a:solidFill>
                  <a:srgbClr val="141418"/>
                </a:solidFill>
                <a:latin typeface="Aptos"/>
              </a:defRPr>
            </a:pPr>
            <a:r>
              <a:t>Staff controls</a:t>
            </a:r>
          </a:p>
        </p:txBody>
      </p:sp>
      <p:sp>
        <p:nvSpPr>
          <p:cNvPr id="26" name="TextBox 25"/>
          <p:cNvSpPr txBox="1"/>
          <p:nvPr/>
        </p:nvSpPr>
        <p:spPr>
          <a:xfrm>
            <a:off x="5166360" y="4544568"/>
            <a:ext cx="2423160" cy="594360"/>
          </a:xfrm>
          <a:prstGeom prst="rect">
            <a:avLst/>
          </a:prstGeom>
          <a:noFill/>
        </p:spPr>
        <p:txBody>
          <a:bodyPr wrap="square" lIns="18288" tIns="18288" rIns="18288" bIns="18288">
            <a:spAutoFit/>
          </a:bodyPr>
          <a:lstStyle/>
          <a:p>
            <a:pPr>
              <a:defRPr sz="1200" b="0">
                <a:solidFill>
                  <a:srgbClr val="717177"/>
                </a:solidFill>
                <a:latin typeface="Aptos"/>
              </a:defRPr>
            </a:pPr>
            <a:r>
              <a:t>Allow staff to call the next token and pause service when needed.</a:t>
            </a:r>
          </a:p>
        </p:txBody>
      </p:sp>
      <p:pic>
        <p:nvPicPr>
          <p:cNvPr id="29" name="Picture 28">
            <a:extLst>
              <a:ext uri="{FF2B5EF4-FFF2-40B4-BE49-F238E27FC236}">
                <a16:creationId xmlns:a16="http://schemas.microsoft.com/office/drawing/2014/main" id="{013DD120-9AE1-9C46-05D2-CD400DD6E1A8}"/>
              </a:ext>
            </a:extLst>
          </p:cNvPr>
          <p:cNvPicPr>
            <a:picLocks noChangeAspect="1"/>
          </p:cNvPicPr>
          <p:nvPr/>
        </p:nvPicPr>
        <p:blipFill>
          <a:blip r:embed="rId2"/>
          <a:srcRect r="53603"/>
          <a:stretch>
            <a:fillRect/>
          </a:stretch>
        </p:blipFill>
        <p:spPr>
          <a:xfrm>
            <a:off x="8217408" y="797814"/>
            <a:ext cx="2950463" cy="476935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3</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960120"/>
            <a:ext cx="4709160" cy="1021818"/>
          </a:xfrm>
          <a:prstGeom prst="rect">
            <a:avLst/>
          </a:prstGeom>
          <a:noFill/>
        </p:spPr>
        <p:txBody>
          <a:bodyPr wrap="square" lIns="18288" tIns="18288" rIns="18288" bIns="18288">
            <a:spAutoFit/>
          </a:bodyPr>
          <a:lstStyle/>
          <a:p>
            <a:pPr>
              <a:defRPr sz="2700" b="0">
                <a:solidFill>
                  <a:srgbClr val="141418"/>
                </a:solidFill>
                <a:latin typeface="Georgia"/>
              </a:defRPr>
            </a:pPr>
            <a:r>
              <a:rPr sz="3200" dirty="0"/>
              <a:t>Software and</a:t>
            </a:r>
            <a:br>
              <a:rPr sz="3200" dirty="0"/>
            </a:br>
            <a:r>
              <a:rPr sz="3200" dirty="0"/>
              <a:t>Hardware Requirements</a:t>
            </a:r>
          </a:p>
        </p:txBody>
      </p:sp>
      <p:sp>
        <p:nvSpPr>
          <p:cNvPr id="16" name="Rectangle 15"/>
          <p:cNvSpPr/>
          <p:nvPr/>
        </p:nvSpPr>
        <p:spPr>
          <a:xfrm>
            <a:off x="749808" y="2194560"/>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487168"/>
            <a:ext cx="2103120" cy="344710"/>
          </a:xfrm>
          <a:prstGeom prst="rect">
            <a:avLst/>
          </a:prstGeom>
          <a:noFill/>
        </p:spPr>
        <p:txBody>
          <a:bodyPr wrap="square" lIns="18288" tIns="18288" rIns="18288" bIns="18288">
            <a:spAutoFit/>
          </a:bodyPr>
          <a:lstStyle/>
          <a:p>
            <a:pPr>
              <a:defRPr sz="1600" b="1">
                <a:solidFill>
                  <a:srgbClr val="141418"/>
                </a:solidFill>
                <a:latin typeface="Aptos"/>
              </a:defRPr>
            </a:pPr>
            <a:r>
              <a:rPr sz="2000"/>
              <a:t>›  Software</a:t>
            </a:r>
          </a:p>
        </p:txBody>
      </p:sp>
      <p:sp>
        <p:nvSpPr>
          <p:cNvPr id="18" name="TextBox 17"/>
          <p:cNvSpPr txBox="1"/>
          <p:nvPr/>
        </p:nvSpPr>
        <p:spPr>
          <a:xfrm>
            <a:off x="822960" y="3015344"/>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19" name="TextBox 18"/>
          <p:cNvSpPr txBox="1"/>
          <p:nvPr/>
        </p:nvSpPr>
        <p:spPr>
          <a:xfrm>
            <a:off x="1051560" y="3026230"/>
            <a:ext cx="2788920" cy="267766"/>
          </a:xfrm>
          <a:prstGeom prst="rect">
            <a:avLst/>
          </a:prstGeom>
          <a:noFill/>
        </p:spPr>
        <p:txBody>
          <a:bodyPr wrap="square" lIns="18288" tIns="18288" rIns="18288" bIns="18288">
            <a:spAutoFit/>
          </a:bodyPr>
          <a:lstStyle/>
          <a:p>
            <a:pPr>
              <a:defRPr sz="1300" b="0">
                <a:solidFill>
                  <a:srgbClr val="717177"/>
                </a:solidFill>
                <a:latin typeface="Aptos"/>
              </a:defRPr>
            </a:pPr>
            <a:r>
              <a:rPr sz="1500" dirty="0"/>
              <a:t>Visual Studio Code</a:t>
            </a:r>
          </a:p>
        </p:txBody>
      </p:sp>
      <p:sp>
        <p:nvSpPr>
          <p:cNvPr id="20" name="TextBox 19"/>
          <p:cNvSpPr txBox="1"/>
          <p:nvPr/>
        </p:nvSpPr>
        <p:spPr>
          <a:xfrm>
            <a:off x="822960" y="361188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21" name="TextBox 20"/>
          <p:cNvSpPr txBox="1"/>
          <p:nvPr/>
        </p:nvSpPr>
        <p:spPr>
          <a:xfrm>
            <a:off x="1051560" y="3611880"/>
            <a:ext cx="2788920" cy="267766"/>
          </a:xfrm>
          <a:prstGeom prst="rect">
            <a:avLst/>
          </a:prstGeom>
          <a:noFill/>
        </p:spPr>
        <p:txBody>
          <a:bodyPr wrap="square" lIns="18288" tIns="18288" rIns="18288" bIns="18288">
            <a:spAutoFit/>
          </a:bodyPr>
          <a:lstStyle/>
          <a:p>
            <a:pPr>
              <a:defRPr sz="1300" b="0">
                <a:solidFill>
                  <a:srgbClr val="717177"/>
                </a:solidFill>
                <a:latin typeface="Aptos"/>
              </a:defRPr>
            </a:pPr>
            <a:r>
              <a:rPr sz="1500"/>
              <a:t>Node.js and npm</a:t>
            </a:r>
          </a:p>
        </p:txBody>
      </p:sp>
      <p:sp>
        <p:nvSpPr>
          <p:cNvPr id="22" name="TextBox 21"/>
          <p:cNvSpPr txBox="1"/>
          <p:nvPr/>
        </p:nvSpPr>
        <p:spPr>
          <a:xfrm>
            <a:off x="822960" y="425196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23" name="TextBox 22"/>
          <p:cNvSpPr txBox="1"/>
          <p:nvPr/>
        </p:nvSpPr>
        <p:spPr>
          <a:xfrm>
            <a:off x="1051560" y="4251960"/>
            <a:ext cx="2788920" cy="267766"/>
          </a:xfrm>
          <a:prstGeom prst="rect">
            <a:avLst/>
          </a:prstGeom>
          <a:noFill/>
        </p:spPr>
        <p:txBody>
          <a:bodyPr wrap="square" lIns="18288" tIns="18288" rIns="18288" bIns="18288">
            <a:spAutoFit/>
          </a:bodyPr>
          <a:lstStyle/>
          <a:p>
            <a:pPr>
              <a:defRPr sz="1300" b="0">
                <a:solidFill>
                  <a:srgbClr val="717177"/>
                </a:solidFill>
                <a:latin typeface="Aptos"/>
              </a:defRPr>
            </a:pPr>
            <a:r>
              <a:rPr sz="1500"/>
              <a:t>Google Chrome</a:t>
            </a:r>
          </a:p>
        </p:txBody>
      </p:sp>
      <p:sp>
        <p:nvSpPr>
          <p:cNvPr id="24" name="TextBox 23"/>
          <p:cNvSpPr txBox="1"/>
          <p:nvPr/>
        </p:nvSpPr>
        <p:spPr>
          <a:xfrm>
            <a:off x="3977639" y="2487168"/>
            <a:ext cx="2103120" cy="344710"/>
          </a:xfrm>
          <a:prstGeom prst="rect">
            <a:avLst/>
          </a:prstGeom>
          <a:noFill/>
        </p:spPr>
        <p:txBody>
          <a:bodyPr wrap="square" lIns="18288" tIns="18288" rIns="18288" bIns="18288">
            <a:spAutoFit/>
          </a:bodyPr>
          <a:lstStyle/>
          <a:p>
            <a:pPr>
              <a:defRPr sz="1600" b="1">
                <a:solidFill>
                  <a:srgbClr val="141418"/>
                </a:solidFill>
                <a:latin typeface="Aptos"/>
              </a:defRPr>
            </a:pPr>
            <a:r>
              <a:rPr dirty="0"/>
              <a:t>›  </a:t>
            </a:r>
            <a:r>
              <a:rPr sz="2000" dirty="0"/>
              <a:t>Hardware</a:t>
            </a:r>
          </a:p>
        </p:txBody>
      </p:sp>
      <p:sp>
        <p:nvSpPr>
          <p:cNvPr id="25" name="TextBox 24"/>
          <p:cNvSpPr txBox="1"/>
          <p:nvPr/>
        </p:nvSpPr>
        <p:spPr>
          <a:xfrm>
            <a:off x="4034246" y="302623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rPr dirty="0"/>
              <a:t>›</a:t>
            </a:r>
          </a:p>
        </p:txBody>
      </p:sp>
      <p:sp>
        <p:nvSpPr>
          <p:cNvPr id="26" name="TextBox 25"/>
          <p:cNvSpPr txBox="1"/>
          <p:nvPr/>
        </p:nvSpPr>
        <p:spPr>
          <a:xfrm>
            <a:off x="4251960" y="3004458"/>
            <a:ext cx="2606040" cy="267766"/>
          </a:xfrm>
          <a:prstGeom prst="rect">
            <a:avLst/>
          </a:prstGeom>
          <a:noFill/>
        </p:spPr>
        <p:txBody>
          <a:bodyPr wrap="square" lIns="18288" tIns="18288" rIns="18288" bIns="18288">
            <a:spAutoFit/>
          </a:bodyPr>
          <a:lstStyle/>
          <a:p>
            <a:pPr>
              <a:defRPr sz="1300" b="0">
                <a:solidFill>
                  <a:srgbClr val="717177"/>
                </a:solidFill>
                <a:latin typeface="Aptos"/>
              </a:defRPr>
            </a:pPr>
            <a:r>
              <a:rPr sz="1500" dirty="0"/>
              <a:t>Intel Core i3 or equivalent</a:t>
            </a:r>
          </a:p>
        </p:txBody>
      </p:sp>
      <p:sp>
        <p:nvSpPr>
          <p:cNvPr id="27" name="TextBox 26"/>
          <p:cNvSpPr txBox="1"/>
          <p:nvPr/>
        </p:nvSpPr>
        <p:spPr>
          <a:xfrm>
            <a:off x="4023360" y="361188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28" name="TextBox 27"/>
          <p:cNvSpPr txBox="1"/>
          <p:nvPr/>
        </p:nvSpPr>
        <p:spPr>
          <a:xfrm>
            <a:off x="4251960" y="3611880"/>
            <a:ext cx="2606040" cy="267766"/>
          </a:xfrm>
          <a:prstGeom prst="rect">
            <a:avLst/>
          </a:prstGeom>
          <a:noFill/>
        </p:spPr>
        <p:txBody>
          <a:bodyPr wrap="square" lIns="18288" tIns="18288" rIns="18288" bIns="18288">
            <a:spAutoFit/>
          </a:bodyPr>
          <a:lstStyle/>
          <a:p>
            <a:pPr>
              <a:defRPr sz="1300" b="0">
                <a:solidFill>
                  <a:srgbClr val="717177"/>
                </a:solidFill>
                <a:latin typeface="Aptos"/>
              </a:defRPr>
            </a:pPr>
            <a:r>
              <a:rPr sz="1500" dirty="0"/>
              <a:t>Minimum 4 GB RAM</a:t>
            </a:r>
          </a:p>
        </p:txBody>
      </p:sp>
      <p:sp>
        <p:nvSpPr>
          <p:cNvPr id="29" name="TextBox 28"/>
          <p:cNvSpPr txBox="1"/>
          <p:nvPr/>
        </p:nvSpPr>
        <p:spPr>
          <a:xfrm>
            <a:off x="4023360" y="425196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30" name="TextBox 29"/>
          <p:cNvSpPr txBox="1"/>
          <p:nvPr/>
        </p:nvSpPr>
        <p:spPr>
          <a:xfrm>
            <a:off x="4251960" y="4251960"/>
            <a:ext cx="2606040" cy="267766"/>
          </a:xfrm>
          <a:prstGeom prst="rect">
            <a:avLst/>
          </a:prstGeom>
          <a:noFill/>
        </p:spPr>
        <p:txBody>
          <a:bodyPr wrap="square" lIns="18288" tIns="18288" rIns="18288" bIns="18288">
            <a:spAutoFit/>
          </a:bodyPr>
          <a:lstStyle/>
          <a:p>
            <a:pPr>
              <a:defRPr sz="1300" b="0">
                <a:solidFill>
                  <a:srgbClr val="717177"/>
                </a:solidFill>
                <a:latin typeface="Aptos"/>
              </a:defRPr>
            </a:pPr>
            <a:r>
              <a:rPr sz="1500" dirty="0"/>
              <a:t>At least 1 GB free storage</a:t>
            </a:r>
          </a:p>
        </p:txBody>
      </p:sp>
      <p:pic>
        <p:nvPicPr>
          <p:cNvPr id="37" name="Picture 36">
            <a:extLst>
              <a:ext uri="{FF2B5EF4-FFF2-40B4-BE49-F238E27FC236}">
                <a16:creationId xmlns:a16="http://schemas.microsoft.com/office/drawing/2014/main" id="{A191F665-3E2C-82F6-ADEA-8E81B2CC14C5}"/>
              </a:ext>
            </a:extLst>
          </p:cNvPr>
          <p:cNvPicPr>
            <a:picLocks noChangeAspect="1"/>
          </p:cNvPicPr>
          <p:nvPr/>
        </p:nvPicPr>
        <p:blipFill>
          <a:blip r:embed="rId3"/>
          <a:stretch>
            <a:fillRect/>
          </a:stretch>
        </p:blipFill>
        <p:spPr>
          <a:xfrm>
            <a:off x="6510483" y="1522968"/>
            <a:ext cx="5343552" cy="36872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4</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FULL VIEW OF THE PROJECT</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1874519"/>
            <a:ext cx="10515600" cy="267766"/>
          </a:xfrm>
          <a:prstGeom prst="rect">
            <a:avLst/>
          </a:prstGeom>
          <a:noFill/>
        </p:spPr>
        <p:txBody>
          <a:bodyPr wrap="square" lIns="18288" tIns="18288" rIns="18288" bIns="18288">
            <a:spAutoFit/>
          </a:bodyPr>
          <a:lstStyle/>
          <a:p>
            <a:pPr>
              <a:defRPr sz="1300" b="0">
                <a:solidFill>
                  <a:srgbClr val="717177"/>
                </a:solidFill>
                <a:latin typeface="Aptos"/>
              </a:defRPr>
            </a:pPr>
            <a:r>
              <a:rPr sz="1500" dirty="0"/>
              <a:t>The overview page shows the live queue and the services currently available to users.</a:t>
            </a:r>
          </a:p>
        </p:txBody>
      </p:sp>
      <p:pic>
        <p:nvPicPr>
          <p:cNvPr id="18" name="Picture 17" descr="image(4).png"/>
          <p:cNvPicPr>
            <a:picLocks noChangeAspect="1"/>
          </p:cNvPicPr>
          <p:nvPr/>
        </p:nvPicPr>
        <p:blipFill>
          <a:blip r:embed="rId2"/>
          <a:stretch>
            <a:fillRect/>
          </a:stretch>
        </p:blipFill>
        <p:spPr>
          <a:xfrm>
            <a:off x="1275395" y="2331720"/>
            <a:ext cx="9610729" cy="4069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3" name="TextBox 2"/>
          <p:cNvSpPr txBox="1"/>
          <p:nvPr/>
        </p:nvSpPr>
        <p:spPr>
          <a:xfrm>
            <a:off x="9692640" y="320040"/>
            <a:ext cx="1828800" cy="175433"/>
          </a:xfrm>
          <a:prstGeom prst="rect">
            <a:avLst/>
          </a:prstGeom>
          <a:noFill/>
        </p:spPr>
        <p:txBody>
          <a:bodyPr wrap="square" lIns="18288" tIns="18288" rIns="18288" bIns="18288">
            <a:spAutoFit/>
          </a:bodyPr>
          <a:lstStyle/>
          <a:p>
            <a:pPr>
              <a:defRPr sz="900" b="0">
                <a:solidFill>
                  <a:srgbClr val="717177"/>
                </a:solidFill>
                <a:latin typeface="Aptos"/>
              </a:defRPr>
            </a:pPr>
            <a:r>
              <a:rPr dirty="0"/>
              <a:t>Sampe Coding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5</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SAMPLE CODING</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1874519"/>
            <a:ext cx="10424160" cy="457200"/>
          </a:xfrm>
          <a:prstGeom prst="rect">
            <a:avLst/>
          </a:prstGeom>
          <a:noFill/>
        </p:spPr>
        <p:txBody>
          <a:bodyPr wrap="square" lIns="18288" tIns="18288" rIns="18288" bIns="18288">
            <a:spAutoFit/>
          </a:bodyPr>
          <a:lstStyle/>
          <a:p>
            <a:pPr>
              <a:defRPr sz="1400" b="0">
                <a:solidFill>
                  <a:srgbClr val="717177"/>
                </a:solidFill>
                <a:latin typeface="Aptos"/>
              </a:defRPr>
            </a:pPr>
            <a:r>
              <a:rPr dirty="0"/>
              <a:t>Example logic for selecting the next waiting token.</a:t>
            </a:r>
          </a:p>
        </p:txBody>
      </p:sp>
      <p:sp>
        <p:nvSpPr>
          <p:cNvPr id="18" name="Rounded Rectangle 17"/>
          <p:cNvSpPr/>
          <p:nvPr/>
        </p:nvSpPr>
        <p:spPr>
          <a:xfrm>
            <a:off x="731520" y="2331719"/>
            <a:ext cx="6400800" cy="4040777"/>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1540" y="2549347"/>
            <a:ext cx="6080760" cy="2926080"/>
          </a:xfrm>
          <a:prstGeom prst="rect">
            <a:avLst/>
          </a:prstGeom>
          <a:noFill/>
        </p:spPr>
        <p:txBody>
          <a:bodyPr wrap="none">
            <a:spAutoFit/>
          </a:bodyPr>
          <a:lstStyle/>
          <a:p>
            <a:pPr>
              <a:spcAft>
                <a:spcPts val="500"/>
              </a:spcAft>
              <a:defRPr sz="1400">
                <a:solidFill>
                  <a:srgbClr val="141418"/>
                </a:solidFill>
                <a:latin typeface="Consolas"/>
              </a:defRPr>
            </a:pPr>
            <a:r>
              <a:t>function callNextToken(queue) {</a:t>
            </a:r>
          </a:p>
          <a:p>
            <a:pPr>
              <a:spcAft>
                <a:spcPts val="500"/>
              </a:spcAft>
              <a:defRPr sz="1400">
                <a:solidFill>
                  <a:srgbClr val="141418"/>
                </a:solidFill>
                <a:latin typeface="Consolas"/>
              </a:defRPr>
            </a:pPr>
            <a:r>
              <a:t>  const nextIndex = queue.findIndex(</a:t>
            </a:r>
          </a:p>
          <a:p>
            <a:pPr>
              <a:spcAft>
                <a:spcPts val="500"/>
              </a:spcAft>
              <a:defRPr sz="1400">
                <a:solidFill>
                  <a:srgbClr val="141418"/>
                </a:solidFill>
                <a:latin typeface="Consolas"/>
              </a:defRPr>
            </a:pPr>
            <a:r>
              <a:t>    token =&gt; token.status === "Waiting"</a:t>
            </a:r>
          </a:p>
          <a:p>
            <a:pPr>
              <a:spcAft>
                <a:spcPts val="500"/>
              </a:spcAft>
              <a:defRPr sz="1400">
                <a:solidFill>
                  <a:srgbClr val="141418"/>
                </a:solidFill>
                <a:latin typeface="Consolas"/>
              </a:defRPr>
            </a:pPr>
            <a:r>
              <a:t>  );</a:t>
            </a:r>
          </a:p>
          <a:p>
            <a:pPr>
              <a:spcAft>
                <a:spcPts val="500"/>
              </a:spcAft>
              <a:defRPr sz="1400">
                <a:solidFill>
                  <a:srgbClr val="141418"/>
                </a:solidFill>
                <a:latin typeface="Consolas"/>
              </a:defRPr>
            </a:pPr>
            <a:endParaRPr/>
          </a:p>
          <a:p>
            <a:pPr>
              <a:spcAft>
                <a:spcPts val="500"/>
              </a:spcAft>
              <a:defRPr sz="1400">
                <a:solidFill>
                  <a:srgbClr val="141418"/>
                </a:solidFill>
                <a:latin typeface="Consolas"/>
              </a:defRPr>
            </a:pPr>
            <a:r>
              <a:t>  if (nextIndex === -1) return queue;</a:t>
            </a:r>
          </a:p>
          <a:p>
            <a:pPr>
              <a:spcAft>
                <a:spcPts val="500"/>
              </a:spcAft>
              <a:defRPr sz="1400">
                <a:solidFill>
                  <a:srgbClr val="141418"/>
                </a:solidFill>
                <a:latin typeface="Consolas"/>
              </a:defRPr>
            </a:pPr>
            <a:endParaRPr/>
          </a:p>
          <a:p>
            <a:pPr>
              <a:spcAft>
                <a:spcPts val="500"/>
              </a:spcAft>
              <a:defRPr sz="1400">
                <a:solidFill>
                  <a:srgbClr val="141418"/>
                </a:solidFill>
                <a:latin typeface="Consolas"/>
              </a:defRPr>
            </a:pPr>
            <a:r>
              <a:t>  return queue.map((token, index) =&gt;</a:t>
            </a:r>
          </a:p>
          <a:p>
            <a:pPr>
              <a:spcAft>
                <a:spcPts val="500"/>
              </a:spcAft>
              <a:defRPr sz="1400">
                <a:solidFill>
                  <a:srgbClr val="141418"/>
                </a:solidFill>
                <a:latin typeface="Consolas"/>
              </a:defRPr>
            </a:pPr>
            <a:r>
              <a:t>    index === nextIndex</a:t>
            </a:r>
          </a:p>
          <a:p>
            <a:pPr>
              <a:spcAft>
                <a:spcPts val="500"/>
              </a:spcAft>
              <a:defRPr sz="1400">
                <a:solidFill>
                  <a:srgbClr val="141418"/>
                </a:solidFill>
                <a:latin typeface="Consolas"/>
              </a:defRPr>
            </a:pPr>
            <a:r>
              <a:t>      ? { ...token, status: "In service" }</a:t>
            </a:r>
          </a:p>
          <a:p>
            <a:pPr>
              <a:spcAft>
                <a:spcPts val="500"/>
              </a:spcAft>
              <a:defRPr sz="1400">
                <a:solidFill>
                  <a:srgbClr val="141418"/>
                </a:solidFill>
                <a:latin typeface="Consolas"/>
              </a:defRPr>
            </a:pPr>
            <a:r>
              <a:t>      : token</a:t>
            </a:r>
          </a:p>
          <a:p>
            <a:pPr>
              <a:spcAft>
                <a:spcPts val="500"/>
              </a:spcAft>
              <a:defRPr sz="1400">
                <a:solidFill>
                  <a:srgbClr val="141418"/>
                </a:solidFill>
                <a:latin typeface="Consolas"/>
              </a:defRPr>
            </a:pPr>
            <a:r>
              <a:t>  );</a:t>
            </a:r>
          </a:p>
          <a:p>
            <a:pPr>
              <a:spcAft>
                <a:spcPts val="500"/>
              </a:spcAft>
              <a:defRPr sz="1400">
                <a:solidFill>
                  <a:srgbClr val="141418"/>
                </a:solidFill>
                <a:latin typeface="Consolas"/>
              </a:defRPr>
            </a:pPr>
            <a:r>
              <a:t>}</a:t>
            </a:r>
          </a:p>
        </p:txBody>
      </p:sp>
      <p:sp>
        <p:nvSpPr>
          <p:cNvPr id="20" name="Rounded Rectangle 19"/>
          <p:cNvSpPr/>
          <p:nvPr/>
        </p:nvSpPr>
        <p:spPr>
          <a:xfrm>
            <a:off x="7772400" y="2560320"/>
            <a:ext cx="3383280" cy="114300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955279" y="2697479"/>
            <a:ext cx="3017520" cy="320040"/>
          </a:xfrm>
          <a:prstGeom prst="rect">
            <a:avLst/>
          </a:prstGeom>
          <a:noFill/>
        </p:spPr>
        <p:txBody>
          <a:bodyPr wrap="square" lIns="18288" tIns="18288" rIns="18288" bIns="18288">
            <a:spAutoFit/>
          </a:bodyPr>
          <a:lstStyle/>
          <a:p>
            <a:pPr>
              <a:defRPr sz="1400" b="1">
                <a:solidFill>
                  <a:srgbClr val="141418"/>
                </a:solidFill>
                <a:latin typeface="Aptos"/>
              </a:defRPr>
            </a:pPr>
            <a:r>
              <a:t>Find next token</a:t>
            </a:r>
          </a:p>
        </p:txBody>
      </p:sp>
      <p:sp>
        <p:nvSpPr>
          <p:cNvPr id="22" name="TextBox 21"/>
          <p:cNvSpPr txBox="1"/>
          <p:nvPr/>
        </p:nvSpPr>
        <p:spPr>
          <a:xfrm>
            <a:off x="7955279" y="3081527"/>
            <a:ext cx="3017520" cy="548640"/>
          </a:xfrm>
          <a:prstGeom prst="rect">
            <a:avLst/>
          </a:prstGeom>
          <a:noFill/>
        </p:spPr>
        <p:txBody>
          <a:bodyPr wrap="square" lIns="18288" tIns="18288" rIns="18288" bIns="18288">
            <a:spAutoFit/>
          </a:bodyPr>
          <a:lstStyle/>
          <a:p>
            <a:pPr>
              <a:defRPr sz="1200" b="0">
                <a:solidFill>
                  <a:srgbClr val="717177"/>
                </a:solidFill>
                <a:latin typeface="Aptos"/>
              </a:defRPr>
            </a:pPr>
            <a:r>
              <a:t>Finds the first token with Waiting status.</a:t>
            </a:r>
          </a:p>
        </p:txBody>
      </p:sp>
      <p:sp>
        <p:nvSpPr>
          <p:cNvPr id="23" name="Rounded Rectangle 22"/>
          <p:cNvSpPr/>
          <p:nvPr/>
        </p:nvSpPr>
        <p:spPr>
          <a:xfrm>
            <a:off x="7772400" y="3977639"/>
            <a:ext cx="3383280" cy="114300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955279" y="4114800"/>
            <a:ext cx="3017520" cy="320040"/>
          </a:xfrm>
          <a:prstGeom prst="rect">
            <a:avLst/>
          </a:prstGeom>
          <a:noFill/>
        </p:spPr>
        <p:txBody>
          <a:bodyPr wrap="square" lIns="18288" tIns="18288" rIns="18288" bIns="18288">
            <a:spAutoFit/>
          </a:bodyPr>
          <a:lstStyle/>
          <a:p>
            <a:pPr>
              <a:defRPr sz="1400" b="1">
                <a:solidFill>
                  <a:srgbClr val="141418"/>
                </a:solidFill>
                <a:latin typeface="Aptos"/>
              </a:defRPr>
            </a:pPr>
            <a:r>
              <a:t>Update status</a:t>
            </a:r>
          </a:p>
        </p:txBody>
      </p:sp>
      <p:sp>
        <p:nvSpPr>
          <p:cNvPr id="25" name="TextBox 24"/>
          <p:cNvSpPr txBox="1"/>
          <p:nvPr/>
        </p:nvSpPr>
        <p:spPr>
          <a:xfrm>
            <a:off x="7955279" y="4498848"/>
            <a:ext cx="3017520" cy="548640"/>
          </a:xfrm>
          <a:prstGeom prst="rect">
            <a:avLst/>
          </a:prstGeom>
          <a:noFill/>
        </p:spPr>
        <p:txBody>
          <a:bodyPr wrap="square" lIns="18288" tIns="18288" rIns="18288" bIns="18288">
            <a:spAutoFit/>
          </a:bodyPr>
          <a:lstStyle/>
          <a:p>
            <a:pPr>
              <a:defRPr sz="1200" b="0">
                <a:solidFill>
                  <a:srgbClr val="717177"/>
                </a:solidFill>
                <a:latin typeface="Aptos"/>
              </a:defRPr>
            </a:pPr>
            <a:r>
              <a:t>Changes the selected token to In service.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6</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ARCHITECTURE DIAGRAM</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1874519"/>
            <a:ext cx="10515600" cy="365760"/>
          </a:xfrm>
          <a:prstGeom prst="rect">
            <a:avLst/>
          </a:prstGeom>
          <a:noFill/>
        </p:spPr>
        <p:txBody>
          <a:bodyPr wrap="square" lIns="18288" tIns="18288" rIns="18288" bIns="18288">
            <a:spAutoFit/>
          </a:bodyPr>
          <a:lstStyle/>
          <a:p>
            <a:pPr>
              <a:defRPr sz="1300" b="0">
                <a:solidFill>
                  <a:srgbClr val="717177"/>
                </a:solidFill>
                <a:latin typeface="Aptos"/>
              </a:defRPr>
            </a:pPr>
            <a:r>
              <a:t>The main parts of the current browser-based prototype are shown below.</a:t>
            </a:r>
          </a:p>
        </p:txBody>
      </p:sp>
      <p:sp>
        <p:nvSpPr>
          <p:cNvPr id="18" name="Rounded Rectangle 17"/>
          <p:cNvSpPr/>
          <p:nvPr/>
        </p:nvSpPr>
        <p:spPr>
          <a:xfrm>
            <a:off x="777240" y="2743200"/>
            <a:ext cx="2880360" cy="169164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2880360"/>
            <a:ext cx="2514600" cy="320040"/>
          </a:xfrm>
          <a:prstGeom prst="rect">
            <a:avLst/>
          </a:prstGeom>
          <a:noFill/>
        </p:spPr>
        <p:txBody>
          <a:bodyPr wrap="square" lIns="18288" tIns="18288" rIns="18288" bIns="18288">
            <a:spAutoFit/>
          </a:bodyPr>
          <a:lstStyle/>
          <a:p>
            <a:pPr>
              <a:defRPr sz="1400" b="1">
                <a:solidFill>
                  <a:srgbClr val="141418"/>
                </a:solidFill>
                <a:latin typeface="Aptos"/>
              </a:defRPr>
            </a:pPr>
            <a:r>
              <a:t>User interface</a:t>
            </a:r>
          </a:p>
        </p:txBody>
      </p:sp>
      <p:sp>
        <p:nvSpPr>
          <p:cNvPr id="20" name="TextBox 19"/>
          <p:cNvSpPr txBox="1"/>
          <p:nvPr/>
        </p:nvSpPr>
        <p:spPr>
          <a:xfrm>
            <a:off x="960120" y="3264408"/>
            <a:ext cx="2514600" cy="1097280"/>
          </a:xfrm>
          <a:prstGeom prst="rect">
            <a:avLst/>
          </a:prstGeom>
          <a:noFill/>
        </p:spPr>
        <p:txBody>
          <a:bodyPr wrap="square" lIns="18288" tIns="18288" rIns="18288" bIns="18288">
            <a:spAutoFit/>
          </a:bodyPr>
          <a:lstStyle/>
          <a:p>
            <a:pPr>
              <a:defRPr sz="1200" b="0">
                <a:solidFill>
                  <a:srgbClr val="717177"/>
                </a:solidFill>
                <a:latin typeface="Aptos"/>
              </a:defRPr>
            </a:pPr>
            <a:r>
              <a:t>Overview, Get a token, My token and Staff console.</a:t>
            </a:r>
          </a:p>
        </p:txBody>
      </p:sp>
      <p:sp>
        <p:nvSpPr>
          <p:cNvPr id="21" name="Rounded Rectangle 20"/>
          <p:cNvSpPr/>
          <p:nvPr/>
        </p:nvSpPr>
        <p:spPr>
          <a:xfrm>
            <a:off x="4617720" y="2743200"/>
            <a:ext cx="2880360" cy="169164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00600" y="2880360"/>
            <a:ext cx="2514600" cy="320040"/>
          </a:xfrm>
          <a:prstGeom prst="rect">
            <a:avLst/>
          </a:prstGeom>
          <a:noFill/>
        </p:spPr>
        <p:txBody>
          <a:bodyPr wrap="square" lIns="18288" tIns="18288" rIns="18288" bIns="18288">
            <a:spAutoFit/>
          </a:bodyPr>
          <a:lstStyle/>
          <a:p>
            <a:pPr>
              <a:defRPr sz="1400" b="1">
                <a:solidFill>
                  <a:srgbClr val="141418"/>
                </a:solidFill>
                <a:latin typeface="Aptos"/>
              </a:defRPr>
            </a:pPr>
            <a:r>
              <a:t>Queue logic</a:t>
            </a:r>
          </a:p>
        </p:txBody>
      </p:sp>
      <p:sp>
        <p:nvSpPr>
          <p:cNvPr id="23" name="TextBox 22"/>
          <p:cNvSpPr txBox="1"/>
          <p:nvPr/>
        </p:nvSpPr>
        <p:spPr>
          <a:xfrm>
            <a:off x="4800600" y="3264408"/>
            <a:ext cx="2514600" cy="1097280"/>
          </a:xfrm>
          <a:prstGeom prst="rect">
            <a:avLst/>
          </a:prstGeom>
          <a:noFill/>
        </p:spPr>
        <p:txBody>
          <a:bodyPr wrap="square" lIns="18288" tIns="18288" rIns="18288" bIns="18288">
            <a:spAutoFit/>
          </a:bodyPr>
          <a:lstStyle/>
          <a:p>
            <a:pPr>
              <a:defRPr sz="1200" b="0">
                <a:solidFill>
                  <a:srgbClr val="717177"/>
                </a:solidFill>
                <a:latin typeface="Aptos"/>
              </a:defRPr>
            </a:pPr>
            <a:r>
              <a:t>Creates and updates tokens and tracks queue status.</a:t>
            </a:r>
          </a:p>
        </p:txBody>
      </p:sp>
      <p:sp>
        <p:nvSpPr>
          <p:cNvPr id="24" name="Rounded Rectangle 23"/>
          <p:cNvSpPr/>
          <p:nvPr/>
        </p:nvSpPr>
        <p:spPr>
          <a:xfrm>
            <a:off x="8458200" y="2743200"/>
            <a:ext cx="2880360" cy="1691640"/>
          </a:xfrm>
          <a:prstGeom prst="roundRect">
            <a:avLst/>
          </a:prstGeom>
          <a:solidFill>
            <a:srgbClr val="FAF7F5"/>
          </a:solidFill>
          <a:ln>
            <a:solidFill>
              <a:srgbClr val="E0DD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641080" y="2880360"/>
            <a:ext cx="2514600" cy="320040"/>
          </a:xfrm>
          <a:prstGeom prst="rect">
            <a:avLst/>
          </a:prstGeom>
          <a:noFill/>
        </p:spPr>
        <p:txBody>
          <a:bodyPr wrap="square" lIns="18288" tIns="18288" rIns="18288" bIns="18288">
            <a:spAutoFit/>
          </a:bodyPr>
          <a:lstStyle/>
          <a:p>
            <a:pPr>
              <a:defRPr sz="1400" b="1">
                <a:solidFill>
                  <a:srgbClr val="141418"/>
                </a:solidFill>
                <a:latin typeface="Aptos"/>
              </a:defRPr>
            </a:pPr>
            <a:r>
              <a:t>Browser storage</a:t>
            </a:r>
          </a:p>
        </p:txBody>
      </p:sp>
      <p:sp>
        <p:nvSpPr>
          <p:cNvPr id="26" name="TextBox 25"/>
          <p:cNvSpPr txBox="1"/>
          <p:nvPr/>
        </p:nvSpPr>
        <p:spPr>
          <a:xfrm>
            <a:off x="8641080" y="3264408"/>
            <a:ext cx="2514600" cy="1097280"/>
          </a:xfrm>
          <a:prstGeom prst="rect">
            <a:avLst/>
          </a:prstGeom>
          <a:noFill/>
        </p:spPr>
        <p:txBody>
          <a:bodyPr wrap="square" lIns="18288" tIns="18288" rIns="18288" bIns="18288">
            <a:spAutoFit/>
          </a:bodyPr>
          <a:lstStyle/>
          <a:p>
            <a:pPr>
              <a:defRPr sz="1200" b="0">
                <a:solidFill>
                  <a:srgbClr val="717177"/>
                </a:solidFill>
                <a:latin typeface="Aptos"/>
              </a:defRPr>
            </a:pPr>
            <a:r>
              <a:t>Stores demo data in the current browser.</a:t>
            </a:r>
          </a:p>
        </p:txBody>
      </p:sp>
      <p:cxnSp>
        <p:nvCxnSpPr>
          <p:cNvPr id="27" name="Connector 26"/>
          <p:cNvCxnSpPr/>
          <p:nvPr/>
        </p:nvCxnSpPr>
        <p:spPr>
          <a:xfrm>
            <a:off x="3657600" y="3584448"/>
            <a:ext cx="960120" cy="0"/>
          </a:xfrm>
          <a:prstGeom prst="line">
            <a:avLst/>
          </a:prstGeom>
          <a:ln w="19050">
            <a:solidFill>
              <a:srgbClr val="9991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98079" y="3584448"/>
            <a:ext cx="960121" cy="0"/>
          </a:xfrm>
          <a:prstGeom prst="line">
            <a:avLst/>
          </a:prstGeom>
          <a:ln w="19050">
            <a:solidFill>
              <a:srgbClr val="99918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22960" y="5120640"/>
            <a:ext cx="10424160" cy="685800"/>
          </a:xfrm>
          <a:prstGeom prst="rect">
            <a:avLst/>
          </a:prstGeom>
          <a:noFill/>
        </p:spPr>
        <p:txBody>
          <a:bodyPr wrap="square" lIns="18288" tIns="18288" rIns="18288" bIns="18288">
            <a:spAutoFit/>
          </a:bodyPr>
          <a:lstStyle/>
          <a:p>
            <a:pPr>
              <a:defRPr sz="1300" b="0">
                <a:solidFill>
                  <a:srgbClr val="717177"/>
                </a:solidFill>
                <a:latin typeface="Aptos"/>
              </a:defRPr>
            </a:pPr>
            <a:r>
              <a:rPr dirty="0"/>
              <a:t>The interface responds to user actions, updates queue information and keeps demo data in the browser. This version does not show a separate server or database.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7</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PROJECT DEMO: STAFF CONSOLE</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1783080"/>
            <a:ext cx="10424160" cy="411480"/>
          </a:xfrm>
          <a:prstGeom prst="rect">
            <a:avLst/>
          </a:prstGeom>
          <a:noFill/>
        </p:spPr>
        <p:txBody>
          <a:bodyPr wrap="square" lIns="18288" tIns="18288" rIns="18288" bIns="18288">
            <a:spAutoFit/>
          </a:bodyPr>
          <a:lstStyle/>
          <a:p>
            <a:pPr>
              <a:defRPr sz="1300" b="0">
                <a:solidFill>
                  <a:srgbClr val="717177"/>
                </a:solidFill>
                <a:latin typeface="Aptos"/>
              </a:defRPr>
            </a:pPr>
            <a:r>
              <a:t>The staff console shows the selected counter, current token and people waiting.</a:t>
            </a:r>
          </a:p>
        </p:txBody>
      </p:sp>
      <p:pic>
        <p:nvPicPr>
          <p:cNvPr id="18" name="Picture 17" descr="image(3).png"/>
          <p:cNvPicPr>
            <a:picLocks noChangeAspect="1"/>
          </p:cNvPicPr>
          <p:nvPr/>
        </p:nvPicPr>
        <p:blipFill>
          <a:blip r:embed="rId2"/>
          <a:stretch>
            <a:fillRect/>
          </a:stretch>
        </p:blipFill>
        <p:spPr>
          <a:xfrm>
            <a:off x="1359192" y="2240280"/>
            <a:ext cx="9443134" cy="4114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8</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DEMO OF THE PROJECT</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1874519"/>
            <a:ext cx="10515600" cy="365760"/>
          </a:xfrm>
          <a:prstGeom prst="rect">
            <a:avLst/>
          </a:prstGeom>
          <a:noFill/>
        </p:spPr>
        <p:txBody>
          <a:bodyPr wrap="square" lIns="18288" tIns="18288" rIns="18288" bIns="18288">
            <a:spAutoFit/>
          </a:bodyPr>
          <a:lstStyle/>
          <a:p>
            <a:pPr>
              <a:defRPr sz="1600" b="0">
                <a:solidFill>
                  <a:srgbClr val="717177"/>
                </a:solidFill>
                <a:latin typeface="Aptos"/>
              </a:defRPr>
            </a:pPr>
            <a:r>
              <a:t>The project can be demonstrated in the following order:</a:t>
            </a:r>
          </a:p>
        </p:txBody>
      </p:sp>
      <p:sp>
        <p:nvSpPr>
          <p:cNvPr id="18" name="TextBox 17"/>
          <p:cNvSpPr txBox="1"/>
          <p:nvPr/>
        </p:nvSpPr>
        <p:spPr>
          <a:xfrm>
            <a:off x="868680" y="2423160"/>
            <a:ext cx="201168" cy="320040"/>
          </a:xfrm>
          <a:prstGeom prst="rect">
            <a:avLst/>
          </a:prstGeom>
          <a:noFill/>
        </p:spPr>
        <p:txBody>
          <a:bodyPr wrap="square" lIns="18288" tIns="18288" rIns="18288" bIns="18288">
            <a:spAutoFit/>
          </a:bodyPr>
          <a:lstStyle/>
          <a:p>
            <a:pPr>
              <a:defRPr sz="1600" b="1">
                <a:solidFill>
                  <a:srgbClr val="999186"/>
                </a:solidFill>
                <a:latin typeface="Aptos"/>
              </a:defRPr>
            </a:pPr>
            <a:r>
              <a:t>›</a:t>
            </a:r>
          </a:p>
        </p:txBody>
      </p:sp>
      <p:sp>
        <p:nvSpPr>
          <p:cNvPr id="19" name="TextBox 18"/>
          <p:cNvSpPr txBox="1"/>
          <p:nvPr/>
        </p:nvSpPr>
        <p:spPr>
          <a:xfrm>
            <a:off x="1097280" y="2423160"/>
            <a:ext cx="10012680" cy="658368"/>
          </a:xfrm>
          <a:prstGeom prst="rect">
            <a:avLst/>
          </a:prstGeom>
          <a:noFill/>
        </p:spPr>
        <p:txBody>
          <a:bodyPr wrap="square" lIns="18288" tIns="18288" rIns="18288" bIns="18288">
            <a:spAutoFit/>
          </a:bodyPr>
          <a:lstStyle/>
          <a:p>
            <a:pPr>
              <a:defRPr sz="1400" b="0">
                <a:solidFill>
                  <a:srgbClr val="717177"/>
                </a:solidFill>
                <a:latin typeface="Aptos"/>
              </a:defRPr>
            </a:pPr>
            <a:r>
              <a:t>Open Overview to show the live queue and available services.</a:t>
            </a:r>
          </a:p>
        </p:txBody>
      </p:sp>
      <p:sp>
        <p:nvSpPr>
          <p:cNvPr id="20" name="TextBox 19"/>
          <p:cNvSpPr txBox="1"/>
          <p:nvPr/>
        </p:nvSpPr>
        <p:spPr>
          <a:xfrm>
            <a:off x="868680" y="3081528"/>
            <a:ext cx="201168" cy="320040"/>
          </a:xfrm>
          <a:prstGeom prst="rect">
            <a:avLst/>
          </a:prstGeom>
          <a:noFill/>
        </p:spPr>
        <p:txBody>
          <a:bodyPr wrap="square" lIns="18288" tIns="18288" rIns="18288" bIns="18288">
            <a:spAutoFit/>
          </a:bodyPr>
          <a:lstStyle/>
          <a:p>
            <a:pPr>
              <a:defRPr sz="1600" b="1">
                <a:solidFill>
                  <a:srgbClr val="999186"/>
                </a:solidFill>
                <a:latin typeface="Aptos"/>
              </a:defRPr>
            </a:pPr>
            <a:r>
              <a:t>›</a:t>
            </a:r>
          </a:p>
        </p:txBody>
      </p:sp>
      <p:sp>
        <p:nvSpPr>
          <p:cNvPr id="21" name="TextBox 20"/>
          <p:cNvSpPr txBox="1"/>
          <p:nvPr/>
        </p:nvSpPr>
        <p:spPr>
          <a:xfrm>
            <a:off x="1097280" y="3081528"/>
            <a:ext cx="10012680" cy="658368"/>
          </a:xfrm>
          <a:prstGeom prst="rect">
            <a:avLst/>
          </a:prstGeom>
          <a:noFill/>
        </p:spPr>
        <p:txBody>
          <a:bodyPr wrap="square" lIns="18288" tIns="18288" rIns="18288" bIns="18288">
            <a:spAutoFit/>
          </a:bodyPr>
          <a:lstStyle/>
          <a:p>
            <a:pPr>
              <a:defRPr sz="1400" b="0">
                <a:solidFill>
                  <a:srgbClr val="717177"/>
                </a:solidFill>
                <a:latin typeface="Aptos"/>
              </a:defRPr>
            </a:pPr>
            <a:r>
              <a:t>Select Get a token and choose the required service.</a:t>
            </a:r>
          </a:p>
        </p:txBody>
      </p:sp>
      <p:sp>
        <p:nvSpPr>
          <p:cNvPr id="22" name="TextBox 21"/>
          <p:cNvSpPr txBox="1"/>
          <p:nvPr/>
        </p:nvSpPr>
        <p:spPr>
          <a:xfrm>
            <a:off x="868680" y="3739896"/>
            <a:ext cx="201168" cy="320040"/>
          </a:xfrm>
          <a:prstGeom prst="rect">
            <a:avLst/>
          </a:prstGeom>
          <a:noFill/>
        </p:spPr>
        <p:txBody>
          <a:bodyPr wrap="square" lIns="18288" tIns="18288" rIns="18288" bIns="18288">
            <a:spAutoFit/>
          </a:bodyPr>
          <a:lstStyle/>
          <a:p>
            <a:pPr>
              <a:defRPr sz="1600" b="1">
                <a:solidFill>
                  <a:srgbClr val="999186"/>
                </a:solidFill>
                <a:latin typeface="Aptos"/>
              </a:defRPr>
            </a:pPr>
            <a:r>
              <a:t>›</a:t>
            </a:r>
          </a:p>
        </p:txBody>
      </p:sp>
      <p:sp>
        <p:nvSpPr>
          <p:cNvPr id="23" name="TextBox 22"/>
          <p:cNvSpPr txBox="1"/>
          <p:nvPr/>
        </p:nvSpPr>
        <p:spPr>
          <a:xfrm>
            <a:off x="1097280" y="3739896"/>
            <a:ext cx="10012680" cy="658368"/>
          </a:xfrm>
          <a:prstGeom prst="rect">
            <a:avLst/>
          </a:prstGeom>
          <a:noFill/>
        </p:spPr>
        <p:txBody>
          <a:bodyPr wrap="square" lIns="18288" tIns="18288" rIns="18288" bIns="18288">
            <a:spAutoFit/>
          </a:bodyPr>
          <a:lstStyle/>
          <a:p>
            <a:pPr>
              <a:defRPr sz="1400" b="0">
                <a:solidFill>
                  <a:srgbClr val="717177"/>
                </a:solidFill>
                <a:latin typeface="Aptos"/>
              </a:defRPr>
            </a:pPr>
            <a:r>
              <a:t>Open My token to show the token number and status.</a:t>
            </a:r>
          </a:p>
        </p:txBody>
      </p:sp>
      <p:sp>
        <p:nvSpPr>
          <p:cNvPr id="24" name="TextBox 23"/>
          <p:cNvSpPr txBox="1"/>
          <p:nvPr/>
        </p:nvSpPr>
        <p:spPr>
          <a:xfrm>
            <a:off x="868680" y="4398264"/>
            <a:ext cx="201168" cy="320040"/>
          </a:xfrm>
          <a:prstGeom prst="rect">
            <a:avLst/>
          </a:prstGeom>
          <a:noFill/>
        </p:spPr>
        <p:txBody>
          <a:bodyPr wrap="square" lIns="18288" tIns="18288" rIns="18288" bIns="18288">
            <a:spAutoFit/>
          </a:bodyPr>
          <a:lstStyle/>
          <a:p>
            <a:pPr>
              <a:defRPr sz="1600" b="1">
                <a:solidFill>
                  <a:srgbClr val="999186"/>
                </a:solidFill>
                <a:latin typeface="Aptos"/>
              </a:defRPr>
            </a:pPr>
            <a:r>
              <a:t>›</a:t>
            </a:r>
          </a:p>
        </p:txBody>
      </p:sp>
      <p:sp>
        <p:nvSpPr>
          <p:cNvPr id="25" name="TextBox 24"/>
          <p:cNvSpPr txBox="1"/>
          <p:nvPr/>
        </p:nvSpPr>
        <p:spPr>
          <a:xfrm>
            <a:off x="1097280" y="4398264"/>
            <a:ext cx="10012680" cy="658368"/>
          </a:xfrm>
          <a:prstGeom prst="rect">
            <a:avLst/>
          </a:prstGeom>
          <a:noFill/>
        </p:spPr>
        <p:txBody>
          <a:bodyPr wrap="square" lIns="18288" tIns="18288" rIns="18288" bIns="18288">
            <a:spAutoFit/>
          </a:bodyPr>
          <a:lstStyle/>
          <a:p>
            <a:pPr>
              <a:defRPr sz="1400" b="0">
                <a:solidFill>
                  <a:srgbClr val="717177"/>
                </a:solidFill>
                <a:latin typeface="Aptos"/>
              </a:defRPr>
            </a:pPr>
            <a:r>
              <a:t>Go to Staff console and select a staff member or counter.</a:t>
            </a:r>
          </a:p>
        </p:txBody>
      </p:sp>
      <p:sp>
        <p:nvSpPr>
          <p:cNvPr id="26" name="TextBox 25"/>
          <p:cNvSpPr txBox="1"/>
          <p:nvPr/>
        </p:nvSpPr>
        <p:spPr>
          <a:xfrm>
            <a:off x="868680" y="5056631"/>
            <a:ext cx="201168" cy="320040"/>
          </a:xfrm>
          <a:prstGeom prst="rect">
            <a:avLst/>
          </a:prstGeom>
          <a:noFill/>
        </p:spPr>
        <p:txBody>
          <a:bodyPr wrap="square" lIns="18288" tIns="18288" rIns="18288" bIns="18288">
            <a:spAutoFit/>
          </a:bodyPr>
          <a:lstStyle/>
          <a:p>
            <a:pPr>
              <a:defRPr sz="1600" b="1">
                <a:solidFill>
                  <a:srgbClr val="999186"/>
                </a:solidFill>
                <a:latin typeface="Aptos"/>
              </a:defRPr>
            </a:pPr>
            <a:r>
              <a:t>›</a:t>
            </a:r>
          </a:p>
        </p:txBody>
      </p:sp>
      <p:sp>
        <p:nvSpPr>
          <p:cNvPr id="27" name="TextBox 26"/>
          <p:cNvSpPr txBox="1"/>
          <p:nvPr/>
        </p:nvSpPr>
        <p:spPr>
          <a:xfrm>
            <a:off x="1097280" y="5056631"/>
            <a:ext cx="10012680" cy="658368"/>
          </a:xfrm>
          <a:prstGeom prst="rect">
            <a:avLst/>
          </a:prstGeom>
          <a:noFill/>
        </p:spPr>
        <p:txBody>
          <a:bodyPr wrap="square" lIns="18288" tIns="18288" rIns="18288" bIns="18288">
            <a:spAutoFit/>
          </a:bodyPr>
          <a:lstStyle/>
          <a:p>
            <a:pPr>
              <a:defRPr sz="1400" b="0">
                <a:solidFill>
                  <a:srgbClr val="717177"/>
                </a:solidFill>
                <a:latin typeface="Aptos"/>
              </a:defRPr>
            </a:pPr>
            <a:r>
              <a:t>Click Call next token and show the queue status update.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320040"/>
            <a:ext cx="2011680" cy="228600"/>
          </a:xfrm>
          <a:prstGeom prst="rect">
            <a:avLst/>
          </a:prstGeom>
          <a:noFill/>
        </p:spPr>
        <p:txBody>
          <a:bodyPr wrap="square" lIns="18288" tIns="18288" rIns="18288" bIns="18288">
            <a:spAutoFit/>
          </a:bodyPr>
          <a:lstStyle/>
          <a:p>
            <a:pPr>
              <a:defRPr sz="900" b="0">
                <a:solidFill>
                  <a:srgbClr val="717177"/>
                </a:solidFill>
                <a:latin typeface="Aptos"/>
              </a:defRPr>
            </a:pPr>
            <a:r>
              <a:t>♧  Web Programming</a:t>
            </a:r>
          </a:p>
        </p:txBody>
      </p:sp>
      <p:sp>
        <p:nvSpPr>
          <p:cNvPr id="4" name="TextBox 3"/>
          <p:cNvSpPr txBox="1"/>
          <p:nvPr/>
        </p:nvSpPr>
        <p:spPr>
          <a:xfrm>
            <a:off x="11109960" y="6473952"/>
            <a:ext cx="411480" cy="164592"/>
          </a:xfrm>
          <a:prstGeom prst="rect">
            <a:avLst/>
          </a:prstGeom>
          <a:noFill/>
        </p:spPr>
        <p:txBody>
          <a:bodyPr wrap="square" lIns="18288" tIns="18288" rIns="18288" bIns="18288">
            <a:spAutoFit/>
          </a:bodyPr>
          <a:lstStyle/>
          <a:p>
            <a:pPr>
              <a:defRPr sz="900" b="0">
                <a:solidFill>
                  <a:srgbClr val="717177"/>
                </a:solidFill>
                <a:latin typeface="Aptos"/>
              </a:defRPr>
            </a:pPr>
            <a:r>
              <a:t>9</a:t>
            </a:r>
          </a:p>
        </p:txBody>
      </p:sp>
      <p:sp>
        <p:nvSpPr>
          <p:cNvPr id="5" name="Oval 4"/>
          <p:cNvSpPr/>
          <p:nvPr/>
        </p:nvSpPr>
        <p:spPr>
          <a:xfrm>
            <a:off x="5440680"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559552"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678424"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97296"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916168" y="658368"/>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5440680"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559552"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678424"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797296"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916168" y="777240"/>
            <a:ext cx="41148" cy="41148"/>
          </a:xfrm>
          <a:prstGeom prst="ellipse">
            <a:avLst/>
          </a:prstGeom>
          <a:solidFill>
            <a:srgbClr val="14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822960"/>
            <a:ext cx="6400800" cy="731520"/>
          </a:xfrm>
          <a:prstGeom prst="rect">
            <a:avLst/>
          </a:prstGeom>
          <a:noFill/>
        </p:spPr>
        <p:txBody>
          <a:bodyPr wrap="square" lIns="18288" tIns="18288" rIns="18288" bIns="18288">
            <a:spAutoFit/>
          </a:bodyPr>
          <a:lstStyle/>
          <a:p>
            <a:pPr>
              <a:defRPr sz="2700" b="0">
                <a:solidFill>
                  <a:srgbClr val="141418"/>
                </a:solidFill>
                <a:latin typeface="Georgia"/>
              </a:defRPr>
            </a:pPr>
            <a:r>
              <a:t>CONCLUSION</a:t>
            </a:r>
          </a:p>
        </p:txBody>
      </p:sp>
      <p:sp>
        <p:nvSpPr>
          <p:cNvPr id="16" name="Rectangle 15"/>
          <p:cNvSpPr/>
          <p:nvPr/>
        </p:nvSpPr>
        <p:spPr>
          <a:xfrm>
            <a:off x="749808" y="1664208"/>
            <a:ext cx="914400" cy="16459"/>
          </a:xfrm>
          <a:prstGeom prst="rect">
            <a:avLst/>
          </a:prstGeom>
          <a:solidFill>
            <a:srgbClr val="9991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2148840"/>
            <a:ext cx="5577840" cy="1280160"/>
          </a:xfrm>
          <a:prstGeom prst="rect">
            <a:avLst/>
          </a:prstGeom>
          <a:noFill/>
        </p:spPr>
        <p:txBody>
          <a:bodyPr wrap="square" lIns="18288" tIns="18288" rIns="18288" bIns="18288">
            <a:spAutoFit/>
          </a:bodyPr>
          <a:lstStyle/>
          <a:p>
            <a:pPr>
              <a:defRPr sz="1900" b="0">
                <a:solidFill>
                  <a:srgbClr val="717177"/>
                </a:solidFill>
                <a:latin typeface="Aptos"/>
              </a:defRPr>
            </a:pPr>
            <a:r>
              <a:t>QueueLess provides a simple way to view service queues and manage tokens through a web interface.</a:t>
            </a:r>
          </a:p>
        </p:txBody>
      </p:sp>
      <p:sp>
        <p:nvSpPr>
          <p:cNvPr id="18" name="TextBox 17"/>
          <p:cNvSpPr txBox="1"/>
          <p:nvPr/>
        </p:nvSpPr>
        <p:spPr>
          <a:xfrm>
            <a:off x="868680" y="370332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19" name="TextBox 18"/>
          <p:cNvSpPr txBox="1"/>
          <p:nvPr/>
        </p:nvSpPr>
        <p:spPr>
          <a:xfrm>
            <a:off x="1097280" y="3703320"/>
            <a:ext cx="6172200" cy="594360"/>
          </a:xfrm>
          <a:prstGeom prst="rect">
            <a:avLst/>
          </a:prstGeom>
          <a:noFill/>
        </p:spPr>
        <p:txBody>
          <a:bodyPr wrap="square" lIns="18288" tIns="18288" rIns="18288" bIns="18288">
            <a:spAutoFit/>
          </a:bodyPr>
          <a:lstStyle/>
          <a:p>
            <a:pPr>
              <a:defRPr sz="1300" b="0">
                <a:solidFill>
                  <a:srgbClr val="717177"/>
                </a:solidFill>
                <a:latin typeface="Aptos"/>
              </a:defRPr>
            </a:pPr>
            <a:r>
              <a:t>Users can view services and check token status.</a:t>
            </a:r>
          </a:p>
        </p:txBody>
      </p:sp>
      <p:sp>
        <p:nvSpPr>
          <p:cNvPr id="20" name="TextBox 19"/>
          <p:cNvSpPr txBox="1"/>
          <p:nvPr/>
        </p:nvSpPr>
        <p:spPr>
          <a:xfrm>
            <a:off x="868680" y="429768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21" name="TextBox 20"/>
          <p:cNvSpPr txBox="1"/>
          <p:nvPr/>
        </p:nvSpPr>
        <p:spPr>
          <a:xfrm>
            <a:off x="1097280" y="4297680"/>
            <a:ext cx="6172200" cy="594360"/>
          </a:xfrm>
          <a:prstGeom prst="rect">
            <a:avLst/>
          </a:prstGeom>
          <a:noFill/>
        </p:spPr>
        <p:txBody>
          <a:bodyPr wrap="square" lIns="18288" tIns="18288" rIns="18288" bIns="18288">
            <a:spAutoFit/>
          </a:bodyPr>
          <a:lstStyle/>
          <a:p>
            <a:pPr>
              <a:defRPr sz="1300" b="0">
                <a:solidFill>
                  <a:srgbClr val="717177"/>
                </a:solidFill>
                <a:latin typeface="Aptos"/>
              </a:defRPr>
            </a:pPr>
            <a:r>
              <a:t>Staff can monitor waiting tokens and call the next person.</a:t>
            </a:r>
          </a:p>
        </p:txBody>
      </p:sp>
      <p:sp>
        <p:nvSpPr>
          <p:cNvPr id="22" name="TextBox 21"/>
          <p:cNvSpPr txBox="1"/>
          <p:nvPr/>
        </p:nvSpPr>
        <p:spPr>
          <a:xfrm>
            <a:off x="868680" y="4892040"/>
            <a:ext cx="201168" cy="320040"/>
          </a:xfrm>
          <a:prstGeom prst="rect">
            <a:avLst/>
          </a:prstGeom>
          <a:noFill/>
        </p:spPr>
        <p:txBody>
          <a:bodyPr wrap="square" lIns="18288" tIns="18288" rIns="18288" bIns="18288">
            <a:spAutoFit/>
          </a:bodyPr>
          <a:lstStyle/>
          <a:p>
            <a:pPr>
              <a:defRPr sz="1500" b="1">
                <a:solidFill>
                  <a:srgbClr val="999186"/>
                </a:solidFill>
                <a:latin typeface="Aptos"/>
              </a:defRPr>
            </a:pPr>
            <a:r>
              <a:t>›</a:t>
            </a:r>
          </a:p>
        </p:txBody>
      </p:sp>
      <p:sp>
        <p:nvSpPr>
          <p:cNvPr id="23" name="TextBox 22"/>
          <p:cNvSpPr txBox="1"/>
          <p:nvPr/>
        </p:nvSpPr>
        <p:spPr>
          <a:xfrm>
            <a:off x="1097280" y="4892040"/>
            <a:ext cx="6172200" cy="594360"/>
          </a:xfrm>
          <a:prstGeom prst="rect">
            <a:avLst/>
          </a:prstGeom>
          <a:noFill/>
        </p:spPr>
        <p:txBody>
          <a:bodyPr wrap="square" lIns="18288" tIns="18288" rIns="18288" bIns="18288">
            <a:spAutoFit/>
          </a:bodyPr>
          <a:lstStyle/>
          <a:p>
            <a:pPr>
              <a:defRPr sz="1300" b="0">
                <a:solidFill>
                  <a:srgbClr val="717177"/>
                </a:solidFill>
                <a:latin typeface="Aptos"/>
              </a:defRPr>
            </a:pPr>
            <a:r>
              <a:t>Future improvements may include login, a database and live updates.</a:t>
            </a:r>
          </a:p>
        </p:txBody>
      </p:sp>
      <p:pic>
        <p:nvPicPr>
          <p:cNvPr id="27" name="Picture 26">
            <a:extLst>
              <a:ext uri="{FF2B5EF4-FFF2-40B4-BE49-F238E27FC236}">
                <a16:creationId xmlns:a16="http://schemas.microsoft.com/office/drawing/2014/main" id="{9C1C530B-D17B-2815-BBB9-52F890ACE1A3}"/>
              </a:ext>
            </a:extLst>
          </p:cNvPr>
          <p:cNvPicPr>
            <a:picLocks noChangeAspect="1"/>
          </p:cNvPicPr>
          <p:nvPr/>
        </p:nvPicPr>
        <p:blipFill>
          <a:blip r:embed="rId2"/>
          <a:srcRect l="1445" t="693" r="2761" b="1487"/>
          <a:stretch>
            <a:fillRect/>
          </a:stretch>
        </p:blipFill>
        <p:spPr>
          <a:xfrm>
            <a:off x="7603336" y="777240"/>
            <a:ext cx="2727207" cy="541324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547</Words>
  <Application>Microsoft Office PowerPoint</Application>
  <PresentationFormat>Widescreen</PresentationFormat>
  <Paragraphs>100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Gayathri</dc:creator>
  <cp:keywords/>
  <dc:description>generated using python-pptx</dc:description>
  <cp:lastModifiedBy>Gayathri Jayam</cp:lastModifiedBy>
  <cp:revision>4</cp:revision>
  <dcterms:created xsi:type="dcterms:W3CDTF">2013-01-27T09:14:16Z</dcterms:created>
  <dcterms:modified xsi:type="dcterms:W3CDTF">2026-10-19T14:43:30Z</dcterms:modified>
  <cp:category/>
</cp:coreProperties>
</file>